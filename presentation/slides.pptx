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028e962c2c64ce8" /><Relationship Type="http://schemas.openxmlformats.org/package/2006/relationships/metadata/core-properties" Target="/docProps/core.xml" Id="R3c3d001ad9fb465b" /><Relationship Type="http://schemas.openxmlformats.org/officeDocument/2006/relationships/extended-properties" Target="/docProps/app.xml" Id="R6cebd5dc7e3043bd" /><Relationship Type="http://schemas.openxmlformats.org/officeDocument/2006/relationships/custom-properties" Target="/docProps/custom.xml" Id="R67e038c0caea4fd0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397367443da94cb7"/>
  </p:notesMasterIdLst>
  <p:sldIdLst>
    <p:sldId id="256" r:id="R99c95c3ea7a945fe"/>
    <p:sldId id="257" r:id="R9c392a2c2b3f4b08"/>
    <p:sldId id="258" r:id="Rc3ca52209d244460"/>
    <p:sldId id="259" r:id="R8004094136054336"/>
    <p:sldId id="260" r:id="R5132507266e24b7b"/>
    <p:sldId id="261" r:id="R38b3113b64484b0c"/>
    <p:sldId id="262" r:id="R575d31d3cd6d4528"/>
    <p:sldId id="263" r:id="R27234e7dca634b49"/>
    <p:sldId id="264" r:id="Rc7860195bec64f1f"/>
    <p:sldId id="265" r:id="R789802f958af4ddd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99c95c3ea7a945fe" /><Relationship Type="http://schemas.openxmlformats.org/officeDocument/2006/relationships/notesMaster" Target="/ppt/notesMasters/notesMaster1.xml" Id="R397367443da94cb7" /><Relationship Type="http://schemas.openxmlformats.org/officeDocument/2006/relationships/slide" Target="/ppt/slides/slide2.xml" Id="R9c392a2c2b3f4b08" /><Relationship Type="http://schemas.openxmlformats.org/officeDocument/2006/relationships/slide" Target="/ppt/slides/slide3.xml" Id="Rc3ca52209d244460" /><Relationship Type="http://schemas.openxmlformats.org/officeDocument/2006/relationships/slide" Target="/ppt/slides/slide4.xml" Id="R8004094136054336" /><Relationship Type="http://schemas.openxmlformats.org/officeDocument/2006/relationships/slide" Target="/ppt/slides/slide5.xml" Id="R5132507266e24b7b" /><Relationship Type="http://schemas.openxmlformats.org/officeDocument/2006/relationships/slide" Target="/ppt/slides/slide6.xml" Id="R38b3113b64484b0c" /><Relationship Type="http://schemas.openxmlformats.org/officeDocument/2006/relationships/slide" Target="/ppt/slides/slide7.xml" Id="R575d31d3cd6d4528" /><Relationship Type="http://schemas.openxmlformats.org/officeDocument/2006/relationships/slide" Target="/ppt/slides/slide8.xml" Id="R27234e7dca634b49" /><Relationship Type="http://schemas.openxmlformats.org/officeDocument/2006/relationships/slide" Target="/ppt/slides/slide9.xml" Id="Rc7860195bec64f1f" /><Relationship Type="http://schemas.openxmlformats.org/officeDocument/2006/relationships/slide" Target="/ppt/slides/slide10.xml" Id="R789802f958af4d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33ded1c4d834b56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5771d33518f45b8" /><Relationship Type="http://schemas.openxmlformats.org/officeDocument/2006/relationships/slide" Target="/ppt/slides/slide1.xml" Id="R80464abf708d47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169a73beae44a0e" /><Relationship Type="http://schemas.openxmlformats.org/officeDocument/2006/relationships/slide" Target="/ppt/slides/slide2.xml" Id="R65dab263a29a47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ca8aa3c67b04edb" /><Relationship Type="http://schemas.openxmlformats.org/officeDocument/2006/relationships/slide" Target="/ppt/slides/slide3.xml" Id="R23e241b0c01b42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4158d9ea3424686" /><Relationship Type="http://schemas.openxmlformats.org/officeDocument/2006/relationships/slide" Target="/ppt/slides/slide4.xml" Id="Ra03196e3d0ca46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5e2510a70554688" /><Relationship Type="http://schemas.openxmlformats.org/officeDocument/2006/relationships/slide" Target="/ppt/slides/slide5.xml" Id="R76af3b8834384a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a105c914aa44ed3" /><Relationship Type="http://schemas.openxmlformats.org/officeDocument/2006/relationships/slide" Target="/ppt/slides/slide6.xml" Id="R27582e47a63f4b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76d32192bdd406b" /><Relationship Type="http://schemas.openxmlformats.org/officeDocument/2006/relationships/slide" Target="/ppt/slides/slide7.xml" Id="Rc555e8eae62f45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51ff43c0d96446c" /><Relationship Type="http://schemas.openxmlformats.org/officeDocument/2006/relationships/slide" Target="/ppt/slides/slide8.xml" Id="R8ad6ae29f74945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8a924f651424d78" /><Relationship Type="http://schemas.openxmlformats.org/officeDocument/2006/relationships/slide" Target="/ppt/slides/slide9.xml" Id="R6f78fb7161ff49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59385d6f4494ee3" /><Relationship Type="http://schemas.openxmlformats.org/officeDocument/2006/relationships/slide" Target="/ppt/slides/slide10.xml" Id="R31cc6646c6ca40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Welcome. PharmaGuard AI is our solution to Problem P2 of the IBM BoB AI Innovation Hackathon 2026. We address two critical challenges in pharmaceutical development: drug safety signal detection and regulatory submission readiness checking.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Two distinct but related problems: first, pharmacovigilance teams need to efficiently identify potential safety signals from spontaneous reporting data. Second, regulatory affairs teams need to verify submission readiness before filing.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This is not just a convenience feature — the stakes are patient safety and drug development timelines worth hundreds of millions of dollars.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PharmaGuard AI is built with Python, Streamlit, Pandas, and NumPy. No database required. Works fully offline. IBM Bob adds explainability on top.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PRR calculation is fully transparent — every contingency table value is shown. The threshold is configurable so different teams can use their preferred cutoffs.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checklist uses keyword matching — transparent and configurable. Teams can customise keywords for their jurisdiction or therapeutic area without changing any complex code.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Pure Python stack: Streamlit for UI, Pandas for data, custom modules for calculation. No database, no background service. IBM Bob is an optional external API call.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We did not invent undocumented IBM Bob endpoints. The adapter uses a standard REST pattern and supports multiple common response formats. If Bob is not configured, the app works perfectly with structured fallback messages.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demo runs entirely locally with synthetic data. No internet connection required for core features.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Thank you. PharmaGuard AI is an honest, transparent prototype. We combine PRR-based signal detection with CTD-inspired readiness checking, with IBM Bob as an optional AI explanation layer. Questions welcome.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b7f44be851440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f385688c77459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02e55c4f654c6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ecb3089e5c400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4cae18b69a4ad6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df13504299834394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c58c2b274647fc" /><Relationship Type="http://schemas.openxmlformats.org/officeDocument/2006/relationships/notesSlide" Target="/ppt/notesSlides/notesSlide1.xml" Id="Rf2489fed73c545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fbbe2caf44f7a" /><Relationship Type="http://schemas.openxmlformats.org/officeDocument/2006/relationships/notesSlide" Target="/ppt/notesSlides/notesSlide2.xml" Id="R87f21bd5bf9c48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06f4dbd9c4fed" /><Relationship Type="http://schemas.openxmlformats.org/officeDocument/2006/relationships/notesSlide" Target="/ppt/notesSlides/notesSlide3.xml" Id="R9580b9b0f7d448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f78cea6d54cc9" /><Relationship Type="http://schemas.openxmlformats.org/officeDocument/2006/relationships/notesSlide" Target="/ppt/notesSlides/notesSlide4.xml" Id="Rbf8943bfdb4740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6e3e473c634482" /><Relationship Type="http://schemas.openxmlformats.org/officeDocument/2006/relationships/notesSlide" Target="/ppt/notesSlides/notesSlide5.xml" Id="R849a14160e2046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807d125274f2d" /><Relationship Type="http://schemas.openxmlformats.org/officeDocument/2006/relationships/notesSlide" Target="/ppt/notesSlides/notesSlide6.xml" Id="Re9478d758f274d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e00ac0d3d74ad1" /><Relationship Type="http://schemas.openxmlformats.org/officeDocument/2006/relationships/notesSlide" Target="/ppt/notesSlides/notesSlide7.xml" Id="Rc5ef20bd83be499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ea6c804924aa0" /><Relationship Type="http://schemas.openxmlformats.org/officeDocument/2006/relationships/notesSlide" Target="/ppt/notesSlides/notesSlide8.xml" Id="R5be1e5f4bc6c48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16f19e68c4718" /><Relationship Type="http://schemas.openxmlformats.org/officeDocument/2006/relationships/notesSlide" Target="/ppt/notesSlides/notesSlide9.xml" Id="R8cc37a5f409242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ccc7d53c984848" /><Relationship Type="http://schemas.openxmlformats.org/officeDocument/2006/relationships/notesSlide" Target="/ppt/notesSlides/notesSlide10.xml" Id="R31b19c90fa1d45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4D8C"/>
        </a:solidFill>
      </p:bgPr>
    </p:bg>
    <p:spTree>
      <p:nvGrpSpPr>
        <p:cNvPr id="1" name=""/>
        <p:cNvGrpSpPr/>
        <p:nvPr/>
      </p:nvGrpSpPr>
      <p:grpSpPr/>
      <p:sp>
        <p:nvSpPr>
          <p:cNvPr id="100000" name="TopAccent"/>
          <p:cNvSpPr txBox="1"/>
          <p:nvPr/>
        </p:nvSpPr>
        <p:spPr>
          <a:xfrm xmlns:a="http://schemas.openxmlformats.org/drawingml/2006/main">
            <a:off x="540000" y="288000"/>
            <a:ext cx="108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A8C8F0"/>
                </a:solidFill>
              </a:rPr>
              <a:t>IBM BoB AI Innovation Hackathon 2026</a:t>
            </a:r>
          </a:p>
        </p:txBody>
      </p:sp>
      <p:sp>
        <p:nvSpPr>
          <p:cNvPr id="100001" name="Title"/>
          <p:cNvSpPr txBox="1"/>
          <p:nvPr/>
        </p:nvSpPr>
        <p:spPr>
          <a:xfrm xmlns:a="http://schemas.openxmlformats.org/drawingml/2006/main">
            <a:off x="540000" y="1080000"/>
            <a:ext cx="10800000" cy="12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  <a:latin typeface="Calibri"/>
                <a:ea typeface="Calibri"/>
              </a:rPr>
              <a:t>💊 PharmaGuard AI</a:t>
            </a:r>
          </a:p>
        </p:txBody>
      </p:sp>
      <p:sp>
        <p:nvSpPr>
          <p:cNvPr id="100002" name="Subtitle"/>
          <p:cNvSpPr txBox="1"/>
          <p:nvPr/>
        </p:nvSpPr>
        <p:spPr>
          <a:xfrm xmlns:a="http://schemas.openxmlformats.org/drawingml/2006/main">
            <a:off x="540000" y="2520000"/>
            <a:ext cx="108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>
                <a:solidFill>
                  <a:srgbClr val="A8C8F0"/>
                </a:solidFill>
              </a:rPr>
              <a:t>AI-Assisted Drug Safety Signal Detection</a:t>
            </a:r>
          </a:p>
          <a:p xmlns:a="http://schemas.openxmlformats.org/drawingml/2006/main">
            <a:r>
              <a:rPr lang="en-US" sz="2200">
                <a:solidFill>
                  <a:srgbClr val="A8C8F0"/>
                </a:solidFill>
              </a:rPr>
              <a:t>&amp; Regulatory Submission Readiness</a:t>
            </a:r>
          </a:p>
        </p:txBody>
      </p:sp>
      <p:sp>
        <p:nvSpPr>
          <p:cNvPr id="100003" name="Footer"/>
          <p:cNvSpPr txBox="1"/>
          <p:nvPr/>
        </p:nvSpPr>
        <p:spPr>
          <a:xfrm xmlns:a="http://schemas.openxmlformats.org/drawingml/2006/main">
            <a:off x="540000" y="6120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6A9BC3"/>
                </a:solidFill>
              </a:rPr>
              <a:t>Problem P2 · Python · Streamlit · IBM Bob · Synthetic Demo Data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4" name="TitleBar"/>
          <p:cNvSpPr txBox="1"/>
          <p:nvPr/>
        </p:nvSpPr>
        <p:spPr>
          <a:xfrm xmlns:a="http://schemas.openxmlformats.org/drawingml/2006/main">
            <a:off x="0" y="0"/>
            <a:ext cx="121932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D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100005" name="P1"/>
          <p:cNvSpPr txBox="1"/>
          <p:nvPr/>
        </p:nvSpPr>
        <p:spPr>
          <a:xfrm xmlns:a="http://schemas.openxmlformats.org/drawingml/2006/main">
            <a:off x="540000" y="1260000"/>
            <a:ext cx="1080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E4D8C"/>
                </a:solidFill>
              </a:rPr>
              <a:t>⚗️  DRUG SAFETY SIGNAL DETECTION</a:t>
            </a:r>
          </a:p>
        </p:txBody>
      </p:sp>
      <p:sp>
        <p:nvSpPr>
          <p:cNvPr id="100006" name="P1b"/>
          <p:cNvSpPr txBox="1"/>
          <p:nvPr/>
        </p:nvSpPr>
        <p:spPr>
          <a:xfrm xmlns:a="http://schemas.openxmlformats.org/drawingml/2006/main">
            <a:off x="540000" y="1620000"/>
            <a:ext cx="108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333333"/>
                </a:solidFill>
              </a:rPr>
              <a:t>Spontaneous adverse event databases contain millions of drug–event reports. Pharmacovigilance teams must manually screen for disproportionate reporting patterns — combinations that may indicate a potential safety signal. Manual review is slow, error-prone, and does not scale.</a:t>
            </a:r>
          </a:p>
        </p:txBody>
      </p:sp>
      <p:sp>
        <p:nvSpPr>
          <p:cNvPr id="100007" name="P2"/>
          <p:cNvSpPr txBox="1"/>
          <p:nvPr/>
        </p:nvSpPr>
        <p:spPr>
          <a:xfrm xmlns:a="http://schemas.openxmlformats.org/drawingml/2006/main">
            <a:off x="540000" y="2880000"/>
            <a:ext cx="1080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E4D8C"/>
                </a:solidFill>
              </a:rPr>
              <a:t>📋  REGULATORY SUBMISSION READINESS</a:t>
            </a:r>
          </a:p>
        </p:txBody>
      </p:sp>
      <p:sp>
        <p:nvSpPr>
          <p:cNvPr id="100008" name="P2b"/>
          <p:cNvSpPr txBox="1"/>
          <p:nvPr/>
        </p:nvSpPr>
        <p:spPr>
          <a:xfrm xmlns:a="http://schemas.openxmlformats.org/drawingml/2006/main">
            <a:off x="540000" y="3240000"/>
            <a:ext cx="108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333333"/>
                </a:solidFill>
              </a:rPr>
              <a:t>New drug applications must meet ICH CTD standards across Modules 1–5. Verifying completeness manually is labour-intensive. Gaps discovered late cause costly submission delays and regulatory deficiency letters.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9" name="TitleBar"/>
          <p:cNvSpPr txBox="1"/>
          <p:nvPr/>
        </p:nvSpPr>
        <p:spPr>
          <a:xfrm xmlns:a="http://schemas.openxmlformats.org/drawingml/2006/main">
            <a:off x="0" y="0"/>
            <a:ext cx="121932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D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Why It Matters</a:t>
            </a:r>
          </a:p>
        </p:txBody>
      </p:sp>
      <p:sp>
        <p:nvSpPr>
          <p:cNvPr id="100010" name="Stat1"/>
          <p:cNvSpPr txBox="1"/>
          <p:nvPr/>
        </p:nvSpPr>
        <p:spPr>
          <a:xfrm xmlns:a="http://schemas.openxmlformats.org/drawingml/2006/main">
            <a:off x="540000" y="1368000"/>
            <a:ext cx="50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E4D8C"/>
                </a:solidFill>
              </a:rPr>
              <a:t>🏥  Patient Safety</a:t>
            </a:r>
          </a:p>
        </p:txBody>
      </p:sp>
      <p:sp>
        <p:nvSpPr>
          <p:cNvPr id="100011" name="Stat1b"/>
          <p:cNvSpPr txBox="1"/>
          <p:nvPr/>
        </p:nvSpPr>
        <p:spPr>
          <a:xfrm xmlns:a="http://schemas.openxmlformats.org/drawingml/2006/main">
            <a:off x="540000" y="1800000"/>
            <a:ext cx="504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333333"/>
                </a:solidFill>
              </a:rPr>
              <a:t>Delayed signal detection means continued patient exposure to preventable adverse drug reactions.</a:t>
            </a:r>
          </a:p>
        </p:txBody>
      </p:sp>
      <p:sp>
        <p:nvSpPr>
          <p:cNvPr id="100012" name="Stat2"/>
          <p:cNvSpPr txBox="1"/>
          <p:nvPr/>
        </p:nvSpPr>
        <p:spPr>
          <a:xfrm xmlns:a="http://schemas.openxmlformats.org/drawingml/2006/main">
            <a:off x="6120000" y="1368000"/>
            <a:ext cx="50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E4D8C"/>
                </a:solidFill>
              </a:rPr>
              <a:t>💰  Cost &amp; Time</a:t>
            </a:r>
          </a:p>
        </p:txBody>
      </p:sp>
      <p:sp>
        <p:nvSpPr>
          <p:cNvPr id="100013" name="Stat2b"/>
          <p:cNvSpPr txBox="1"/>
          <p:nvPr/>
        </p:nvSpPr>
        <p:spPr>
          <a:xfrm xmlns:a="http://schemas.openxmlformats.org/drawingml/2006/main">
            <a:off x="6120000" y="1800000"/>
            <a:ext cx="504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333333"/>
                </a:solidFill>
              </a:rPr>
              <a:t>Incomplete dossiers lead to deficiency letters and submission rejections — adding months and millions to drug development timelines.</a:t>
            </a:r>
          </a:p>
        </p:txBody>
      </p:sp>
      <p:sp>
        <p:nvSpPr>
          <p:cNvPr id="100014" name="Stat3"/>
          <p:cNvSpPr txBox="1"/>
          <p:nvPr/>
        </p:nvSpPr>
        <p:spPr>
          <a:xfrm xmlns:a="http://schemas.openxmlformats.org/drawingml/2006/main">
            <a:off x="540000" y="3240000"/>
            <a:ext cx="50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E4D8C"/>
                </a:solidFill>
              </a:rPr>
              <a:t>🔍  Explainability Gap</a:t>
            </a:r>
          </a:p>
        </p:txBody>
      </p:sp>
      <p:sp>
        <p:nvSpPr>
          <p:cNvPr id="100015" name="Stat3b"/>
          <p:cNvSpPr txBox="1"/>
          <p:nvPr/>
        </p:nvSpPr>
        <p:spPr>
          <a:xfrm xmlns:a="http://schemas.openxmlformats.org/drawingml/2006/main">
            <a:off x="540000" y="3672000"/>
            <a:ext cx="504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333333"/>
                </a:solidFill>
              </a:rPr>
              <a:t>Existing enterprise tools are expensive, opaque, and inaccessible to smaller teams without specialised expertise.</a:t>
            </a:r>
          </a:p>
        </p:txBody>
      </p:sp>
      <p:sp>
        <p:nvSpPr>
          <p:cNvPr id="100016" name="Stat4"/>
          <p:cNvSpPr txBox="1"/>
          <p:nvPr/>
        </p:nvSpPr>
        <p:spPr>
          <a:xfrm xmlns:a="http://schemas.openxmlformats.org/drawingml/2006/main">
            <a:off x="6120000" y="3240000"/>
            <a:ext cx="50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E4D8C"/>
                </a:solidFill>
              </a:rPr>
              <a:t>🤖  AI Opportunity</a:t>
            </a:r>
          </a:p>
        </p:txBody>
      </p:sp>
      <p:sp>
        <p:nvSpPr>
          <p:cNvPr id="100017" name="Stat4b"/>
          <p:cNvSpPr txBox="1"/>
          <p:nvPr/>
        </p:nvSpPr>
        <p:spPr>
          <a:xfrm xmlns:a="http://schemas.openxmlformats.org/drawingml/2006/main">
            <a:off x="6120000" y="3672000"/>
            <a:ext cx="504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333333"/>
                </a:solidFill>
              </a:rPr>
              <a:t>AI-assisted tools that are transparent, configurable, and explainable can meaningfully reduce the burden on expert pharmacovigilance and regulatory teams.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8" name="TitleBar"/>
          <p:cNvSpPr txBox="1"/>
          <p:nvPr/>
        </p:nvSpPr>
        <p:spPr>
          <a:xfrm xmlns:a="http://schemas.openxmlformats.org/drawingml/2006/main">
            <a:off x="0" y="0"/>
            <a:ext cx="121932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D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Our Solution — PharmaGuard AI</a:t>
            </a:r>
          </a:p>
        </p:txBody>
      </p:sp>
      <p:sp>
        <p:nvSpPr>
          <p:cNvPr id="100019" name="Intro"/>
          <p:cNvSpPr txBox="1"/>
          <p:nvPr/>
        </p:nvSpPr>
        <p:spPr>
          <a:xfrm xmlns:a="http://schemas.openxmlformats.org/drawingml/2006/main">
            <a:off x="540000" y="1152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333333"/>
                </a:solidFill>
              </a:rPr>
              <a:t>A single, transparent, AI-assisted screening prototype combining both capabilities in one unified Streamlit dashboard.</a:t>
            </a:r>
          </a:p>
        </p:txBody>
      </p:sp>
      <p:sp>
        <p:nvSpPr>
          <p:cNvPr id="100020" name="F1"/>
          <p:cNvSpPr txBox="1"/>
          <p:nvPr/>
        </p:nvSpPr>
        <p:spPr>
          <a:xfrm xmlns:a="http://schemas.openxmlformats.org/drawingml/2006/main">
            <a:off x="540000" y="1800000"/>
            <a:ext cx="522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E4D8C"/>
                </a:solidFill>
              </a:rPr>
              <a:t>🔬 Safety Signal Detection</a:t>
            </a:r>
          </a:p>
        </p:txBody>
      </p:sp>
      <p:sp>
        <p:nvSpPr>
          <p:cNvPr id="100021" name="F1b"/>
          <p:cNvSpPr txBox="1"/>
          <p:nvPr/>
        </p:nvSpPr>
        <p:spPr>
          <a:xfrm xmlns:a="http://schemas.openxmlformats.org/drawingml/2006/main">
            <a:off x="540000" y="2196000"/>
            <a:ext cx="522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333333"/>
                </a:solidFill>
              </a:rPr>
              <a:t>Upload CSV → Compute PRR for every drug–event pair → Rank signals → Flag potential safety signals → Download results</a:t>
            </a:r>
          </a:p>
        </p:txBody>
      </p:sp>
      <p:sp>
        <p:nvSpPr>
          <p:cNvPr id="100022" name="F2"/>
          <p:cNvSpPr txBox="1"/>
          <p:nvPr/>
        </p:nvSpPr>
        <p:spPr>
          <a:xfrm xmlns:a="http://schemas.openxmlformats.org/drawingml/2006/main">
            <a:off x="6300000" y="1800000"/>
            <a:ext cx="50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E4D8C"/>
                </a:solidFill>
              </a:rPr>
              <a:t>📋 Submission Readiness</a:t>
            </a:r>
          </a:p>
        </p:txBody>
      </p:sp>
      <p:sp>
        <p:nvSpPr>
          <p:cNvPr id="100023" name="F2b"/>
          <p:cNvSpPr txBox="1"/>
          <p:nvPr/>
        </p:nvSpPr>
        <p:spPr>
          <a:xfrm xmlns:a="http://schemas.openxmlformats.org/drawingml/2006/main">
            <a:off x="6300000" y="2196000"/>
            <a:ext cx="504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333333"/>
                </a:solidFill>
              </a:rPr>
              <a:t>Upload dossier text → Keyword matching vs CTD checklist Modules 1–5 → Module scores → Gap report → Download</a:t>
            </a:r>
          </a:p>
        </p:txBody>
      </p:sp>
      <p:sp>
        <p:nvSpPr>
          <p:cNvPr id="100024" name="F3"/>
          <p:cNvSpPr txBox="1"/>
          <p:nvPr/>
        </p:nvSpPr>
        <p:spPr>
          <a:xfrm xmlns:a="http://schemas.openxmlformats.org/drawingml/2006/main">
            <a:off x="540000" y="3600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E4D8C"/>
                </a:solidFill>
              </a:rPr>
              <a:t>🤖 IBM Bob AI Layer (optional)</a:t>
            </a:r>
          </a:p>
        </p:txBody>
      </p:sp>
      <p:sp>
        <p:nvSpPr>
          <p:cNvPr id="100025" name="F3b"/>
          <p:cNvSpPr txBox="1"/>
          <p:nvPr/>
        </p:nvSpPr>
        <p:spPr>
          <a:xfrm xmlns:a="http://schemas.openxmlformats.org/drawingml/2006/main">
            <a:off x="540000" y="4032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333333"/>
                </a:solidFill>
              </a:rPr>
              <a:t>Plain-language signal explanations · Concise submission gap summaries · Graceful fallback when not configured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26" name="TitleBar"/>
          <p:cNvSpPr txBox="1"/>
          <p:nvPr/>
        </p:nvSpPr>
        <p:spPr>
          <a:xfrm xmlns:a="http://schemas.openxmlformats.org/drawingml/2006/main">
            <a:off x="0" y="0"/>
            <a:ext cx="121932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D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Feature 1 — Safety Signal Detection</a:t>
            </a:r>
          </a:p>
        </p:txBody>
      </p:sp>
      <p:sp>
        <p:nvSpPr>
          <p:cNvPr id="100027" name="Formula"/>
          <p:cNvSpPr txBox="1"/>
          <p:nvPr/>
        </p:nvSpPr>
        <p:spPr>
          <a:xfrm xmlns:a="http://schemas.openxmlformats.org/drawingml/2006/main">
            <a:off x="540000" y="1152000"/>
            <a:ext cx="108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E4D8C"/>
                </a:solidFill>
              </a:rPr>
              <a:t>PRR Formula: (a / (a+b)) / (c / (c+d))</a:t>
            </a:r>
          </a:p>
        </p:txBody>
      </p:sp>
      <p:sp>
        <p:nvSpPr>
          <p:cNvPr id="100028" name="Table"/>
          <p:cNvSpPr txBox="1"/>
          <p:nvPr/>
        </p:nvSpPr>
        <p:spPr>
          <a:xfrm xmlns:a="http://schemas.openxmlformats.org/drawingml/2006/main">
            <a:off x="540000" y="1656000"/>
            <a:ext cx="108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333333"/>
                </a:solidFill>
              </a:rPr>
              <a:t>a = Drug X + Event E reports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</a:rPr>
              <a:t>b = Drug X + Other events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</a:rPr>
              <a:t>c = Other drugs + Event E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</a:rPr>
              <a:t>d = Other drugs + Other events</a:t>
            </a:r>
          </a:p>
        </p:txBody>
      </p:sp>
      <p:sp>
        <p:nvSpPr>
          <p:cNvPr id="100029" name="Steps"/>
          <p:cNvSpPr txBox="1"/>
          <p:nvPr/>
        </p:nvSpPr>
        <p:spPr>
          <a:xfrm xmlns:a="http://schemas.openxmlformats.org/drawingml/2006/main">
            <a:off x="540000" y="2952000"/>
            <a:ext cx="1080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333333"/>
                </a:solidFill>
              </a:rPr>
              <a:t>✅  Upload CSV (drug, event, count)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</a:rPr>
              <a:t>✅  Configure threshold (default PRR ≥ 2.0, min 3 co-reports)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</a:rPr>
              <a:t>✅  View ranked results table with full a/b/c/d values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</a:rPr>
              <a:t>✅  Expand flagged signals for contingency table detail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</a:rPr>
              <a:t>✅  Download results as CSV</a:t>
            </a:r>
          </a:p>
        </p:txBody>
      </p:sp>
      <p:sp>
        <p:nvSpPr>
          <p:cNvPr id="100030" name="Disclaimer"/>
          <p:cNvSpPr txBox="1"/>
          <p:nvPr/>
        </p:nvSpPr>
        <p:spPr>
          <a:xfrm xmlns:a="http://schemas.openxmlformats.org/drawingml/2006/main">
            <a:off x="540000" y="5040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D04000"/>
                </a:solidFill>
              </a:rPr>
              <a:t>⚠️ PRR is a disproportionality screening statistic — does NOT prove causality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31" name="TitleBar"/>
          <p:cNvSpPr txBox="1"/>
          <p:nvPr/>
        </p:nvSpPr>
        <p:spPr>
          <a:xfrm xmlns:a="http://schemas.openxmlformats.org/drawingml/2006/main">
            <a:off x="0" y="0"/>
            <a:ext cx="121932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D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Feature 2 — Submission Readiness Checker</a:t>
            </a:r>
          </a:p>
        </p:txBody>
      </p:sp>
      <p:sp>
        <p:nvSpPr>
          <p:cNvPr id="100032" name="Modules"/>
          <p:cNvSpPr txBox="1"/>
          <p:nvPr/>
        </p:nvSpPr>
        <p:spPr>
          <a:xfrm xmlns:a="http://schemas.openxmlformats.org/drawingml/2006/main">
            <a:off x="540000" y="1152000"/>
            <a:ext cx="10800000" cy="32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333333"/>
                </a:solidFill>
              </a:rPr>
              <a:t>CTD-Inspired Checklist — Modules 1–5</a:t>
            </a:r>
          </a:p>
          <a:p xmlns:a="http://schemas.openxmlformats.org/drawingml/2006/main">
            <a:r>
              <a:rPr lang="en-US" sz="1500">
                <a:solidFill>
                  <a:srgbClr val="333333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333333"/>
                </a:solidFill>
              </a:rPr>
              <a:t>Module 1: Administrative &amp; Regional Information (4 requirements)</a:t>
            </a:r>
          </a:p>
          <a:p xmlns:a="http://schemas.openxmlformats.org/drawingml/2006/main">
            <a:r>
              <a:rPr lang="en-US" sz="1500">
                <a:solidFill>
                  <a:srgbClr val="333333"/>
                </a:solidFill>
              </a:rPr>
              <a:t>Module 2: CTD Summaries — QOS, overviews, clinical summary (7 requirements)</a:t>
            </a:r>
          </a:p>
          <a:p xmlns:a="http://schemas.openxmlformats.org/drawingml/2006/main">
            <a:r>
              <a:rPr lang="en-US" sz="1500">
                <a:solidFill>
                  <a:srgbClr val="333333"/>
                </a:solidFill>
              </a:rPr>
              <a:t>Module 3: Quality — drug substance, drug product, stability, manufacturing (5 requirements)</a:t>
            </a:r>
          </a:p>
          <a:p xmlns:a="http://schemas.openxmlformats.org/drawingml/2006/main">
            <a:r>
              <a:rPr lang="en-US" sz="1500">
                <a:solidFill>
                  <a:srgbClr val="333333"/>
                </a:solidFill>
              </a:rPr>
              <a:t>Module 4: Nonclinical Reports — pharmacology, PK, toxicology, reproductive (6 requirements)</a:t>
            </a:r>
          </a:p>
          <a:p xmlns:a="http://schemas.openxmlformats.org/drawingml/2006/main">
            <a:r>
              <a:rPr lang="en-US" sz="1500">
                <a:solidFill>
                  <a:srgbClr val="333333"/>
                </a:solidFill>
              </a:rPr>
              <a:t>Module 5: Clinical Reports — BA/BE, PK studies, efficacy, safety (5 requirements)</a:t>
            </a:r>
          </a:p>
          <a:p xmlns:a="http://schemas.openxmlformats.org/drawingml/2006/main">
            <a:r>
              <a:rPr lang="en-US" sz="1500">
                <a:solidFill>
                  <a:srgbClr val="333333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333333"/>
                </a:solidFill>
              </a:rPr>
              <a:t>Total: 27 configurable requirements</a:t>
            </a:r>
          </a:p>
        </p:txBody>
      </p:sp>
      <p:sp>
        <p:nvSpPr>
          <p:cNvPr id="100033" name="Output"/>
          <p:cNvSpPr txBox="1"/>
          <p:nvPr/>
        </p:nvSpPr>
        <p:spPr>
          <a:xfrm xmlns:a="http://schemas.openxmlformats.org/drawingml/2006/main">
            <a:off x="540000" y="4608000"/>
            <a:ext cx="108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E4D8C"/>
                </a:solidFill>
              </a:rPr>
              <a:t>📊 Module-wise completeness scores  ·  📋 Missing requirements list  ·  ⬇️ Downloadable gap report</a:t>
            </a:r>
          </a:p>
        </p:txBody>
      </p:sp>
      <p:sp>
        <p:nvSpPr>
          <p:cNvPr id="100034" name="Disclaimer"/>
          <p:cNvSpPr txBox="1"/>
          <p:nvPr/>
        </p:nvSpPr>
        <p:spPr>
          <a:xfrm xmlns:a="http://schemas.openxmlformats.org/drawingml/2006/main">
            <a:off x="540000" y="5220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D04000"/>
                </a:solidFill>
              </a:rPr>
              <a:t>⚠️ Prototype screening tool — NOT a legal regulatory certification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35" name="TitleBar"/>
          <p:cNvSpPr txBox="1"/>
          <p:nvPr/>
        </p:nvSpPr>
        <p:spPr>
          <a:xfrm xmlns:a="http://schemas.openxmlformats.org/drawingml/2006/main">
            <a:off x="0" y="0"/>
            <a:ext cx="121932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D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100036" name="Arch"/>
          <p:cNvSpPr txBox="1"/>
          <p:nvPr/>
        </p:nvSpPr>
        <p:spPr>
          <a:xfrm xmlns:a="http://schemas.openxmlformats.org/drawingml/2006/main">
            <a:off x="540000" y="1152000"/>
            <a:ext cx="10800000" cy="50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1E2761"/>
                </a:solidFill>
                <a:latin typeface="Courier New"/>
                <a:ea typeface="Courier New"/>
              </a:rPr>
              <a:t>User (Browser)</a:t>
            </a:r>
          </a:p>
          <a:p xmlns:a="http://schemas.openxmlformats.org/drawingml/2006/main">
            <a:r>
              <a:rPr lang="en-US" sz="1300">
                <a:solidFill>
                  <a:srgbClr val="1E2761"/>
                </a:solidFill>
                <a:latin typeface="Courier New"/>
                <a:ea typeface="Courier New"/>
              </a:rPr>
              <a:t>         │</a:t>
            </a:r>
          </a:p>
          <a:p xmlns:a="http://schemas.openxmlformats.org/drawingml/2006/main">
            <a:r>
              <a:rPr lang="en-US" sz="1300">
                <a:solidFill>
                  <a:srgbClr val="1E2761"/>
                </a:solidFill>
                <a:latin typeface="Courier New"/>
                <a:ea typeface="Courier New"/>
              </a:rPr>
              <a:t>         ▼</a:t>
            </a:r>
          </a:p>
          <a:p xmlns:a="http://schemas.openxmlformats.org/drawingml/2006/main">
            <a:r>
              <a:rPr lang="en-US" sz="1300">
                <a:solidFill>
                  <a:srgbClr val="1E2761"/>
                </a:solidFill>
                <a:latin typeface="Courier New"/>
                <a:ea typeface="Courier New"/>
              </a:rPr>
              <a:t>Streamlit Dashboard  ──  app.py</a:t>
            </a:r>
          </a:p>
          <a:p xmlns:a="http://schemas.openxmlformats.org/drawingml/2006/main">
            <a:r>
              <a:rPr lang="en-US" sz="1300">
                <a:solidFill>
                  <a:srgbClr val="1E2761"/>
                </a:solidFill>
                <a:latin typeface="Courier New"/>
                <a:ea typeface="Courier New"/>
              </a:rPr>
              <a:t>         │</a:t>
            </a:r>
          </a:p>
          <a:p xmlns:a="http://schemas.openxmlformats.org/drawingml/2006/main">
            <a:r>
              <a:rPr lang="en-US" sz="1300">
                <a:solidFill>
                  <a:srgbClr val="1E2761"/>
                </a:solidFill>
                <a:latin typeface="Courier New"/>
                <a:ea typeface="Courier New"/>
              </a:rPr>
              <a:t>         ├────────────────────────┐</a:t>
            </a:r>
          </a:p>
          <a:p xmlns:a="http://schemas.openxmlformats.org/drawingml/2006/main">
            <a:r>
              <a:rPr lang="en-US" sz="1300">
                <a:solidFill>
                  <a:srgbClr val="1E2761"/>
                </a:solidFill>
                <a:latin typeface="Courier New"/>
                <a:ea typeface="Courier New"/>
              </a:rPr>
              <a:t>         │                        │</a:t>
            </a:r>
          </a:p>
          <a:p xmlns:a="http://schemas.openxmlformats.org/drawingml/2006/main">
            <a:r>
              <a:rPr lang="en-US" sz="1300">
                <a:solidFill>
                  <a:srgbClr val="1E2761"/>
                </a:solidFill>
                <a:latin typeface="Courier New"/>
                <a:ea typeface="Courier New"/>
              </a:rPr>
              <a:t>         ▼                        ▼</a:t>
            </a:r>
          </a:p>
          <a:p xmlns:a="http://schemas.openxmlformats.org/drawingml/2006/main">
            <a:r>
              <a:rPr lang="en-US" sz="1300">
                <a:solidFill>
                  <a:srgbClr val="1E2761"/>
                </a:solidFill>
                <a:latin typeface="Courier New"/>
                <a:ea typeface="Courier New"/>
              </a:rPr>
              <a:t>Safety Signal Engine     CTD Readiness Checker</a:t>
            </a:r>
          </a:p>
          <a:p xmlns:a="http://schemas.openxmlformats.org/drawingml/2006/main">
            <a:r>
              <a:rPr lang="en-US" sz="1300">
                <a:solidFill>
                  <a:srgbClr val="1E2761"/>
                </a:solidFill>
                <a:latin typeface="Courier New"/>
                <a:ea typeface="Courier New"/>
              </a:rPr>
              <a:t>  safety_signal.py         ctd_checker.py</a:t>
            </a:r>
          </a:p>
          <a:p xmlns:a="http://schemas.openxmlformats.org/drawingml/2006/main">
            <a:r>
              <a:rPr lang="en-US" sz="1300">
                <a:solidFill>
                  <a:srgbClr val="1E2761"/>
                </a:solidFill>
                <a:latin typeface="Courier New"/>
                <a:ea typeface="Courier New"/>
              </a:rPr>
              <a:t>  PRR · Contingency        Keyword Matching</a:t>
            </a:r>
          </a:p>
          <a:p xmlns:a="http://schemas.openxmlformats.org/drawingml/2006/main">
            <a:r>
              <a:rPr lang="en-US" sz="1300">
                <a:solidFill>
                  <a:srgbClr val="1E2761"/>
                </a:solidFill>
                <a:latin typeface="Courier New"/>
                <a:ea typeface="Courier New"/>
              </a:rPr>
              <a:t>  Ranking · Flagging       Module Scoring</a:t>
            </a:r>
          </a:p>
          <a:p xmlns:a="http://schemas.openxmlformats.org/drawingml/2006/main">
            <a:r>
              <a:rPr lang="en-US" sz="1300">
                <a:solidFill>
                  <a:srgbClr val="1E2761"/>
                </a:solidFill>
                <a:latin typeface="Courier New"/>
                <a:ea typeface="Courier New"/>
              </a:rPr>
              <a:t>         │                        │</a:t>
            </a:r>
          </a:p>
          <a:p xmlns:a="http://schemas.openxmlformats.org/drawingml/2006/main">
            <a:r>
              <a:rPr lang="en-US" sz="1300">
                <a:solidFill>
                  <a:srgbClr val="1E2761"/>
                </a:solidFill>
                <a:latin typeface="Courier New"/>
                <a:ea typeface="Courier New"/>
              </a:rPr>
              <a:t>         └──────────┬─────────────┘</a:t>
            </a:r>
          </a:p>
          <a:p xmlns:a="http://schemas.openxmlformats.org/drawingml/2006/main">
            <a:r>
              <a:rPr lang="en-US" sz="1300">
                <a:solidFill>
                  <a:srgbClr val="1E2761"/>
                </a:solidFill>
                <a:latin typeface="Courier New"/>
                <a:ea typeface="Courier New"/>
              </a:rPr>
              <a:t>                    ▼</a:t>
            </a:r>
          </a:p>
          <a:p xmlns:a="http://schemas.openxmlformats.org/drawingml/2006/main">
            <a:r>
              <a:rPr lang="en-US" sz="1300">
                <a:solidFill>
                  <a:srgbClr val="1E2761"/>
                </a:solidFill>
                <a:latin typeface="Courier New"/>
                <a:ea typeface="Courier New"/>
              </a:rPr>
              <a:t>            IBM Bob Adapter</a:t>
            </a:r>
          </a:p>
          <a:p xmlns:a="http://schemas.openxmlformats.org/drawingml/2006/main">
            <a:r>
              <a:rPr lang="en-US" sz="1300">
                <a:solidFill>
                  <a:srgbClr val="1E2761"/>
                </a:solidFill>
                <a:latin typeface="Courier New"/>
                <a:ea typeface="Courier New"/>
              </a:rPr>
              <a:t>             bob_adapter.py</a:t>
            </a:r>
          </a:p>
          <a:p xmlns:a="http://schemas.openxmlformats.org/drawingml/2006/main">
            <a:r>
              <a:rPr lang="en-US" sz="1300">
                <a:solidFill>
                  <a:srgbClr val="1E2761"/>
                </a:solidFill>
                <a:latin typeface="Courier New"/>
                <a:ea typeface="Courier New"/>
              </a:rPr>
              <a:t>                    │</a:t>
            </a:r>
          </a:p>
          <a:p xmlns:a="http://schemas.openxmlformats.org/drawingml/2006/main">
            <a:r>
              <a:rPr lang="en-US" sz="1300">
                <a:solidFill>
                  <a:srgbClr val="1E2761"/>
                </a:solidFill>
                <a:latin typeface="Courier New"/>
                <a:ea typeface="Courier New"/>
              </a:rPr>
              <a:t>          ┌─────────┴──────────┐</a:t>
            </a:r>
          </a:p>
          <a:p xmlns:a="http://schemas.openxmlformats.org/drawingml/2006/main">
            <a:r>
              <a:rPr lang="en-US" sz="1300">
                <a:solidFill>
                  <a:srgbClr val="1E2761"/>
                </a:solidFill>
                <a:latin typeface="Courier New"/>
                <a:ea typeface="Courier New"/>
              </a:rPr>
              <a:t>          ▼                    ▼</a:t>
            </a:r>
          </a:p>
          <a:p xmlns:a="http://schemas.openxmlformats.org/drawingml/2006/main">
            <a:r>
              <a:rPr lang="en-US" sz="1300">
                <a:solidFill>
                  <a:srgbClr val="1E2761"/>
                </a:solidFill>
                <a:latin typeface="Courier New"/>
                <a:ea typeface="Courier New"/>
              </a:rPr>
              <a:t>   Bob API (if set)     Fallback message</a:t>
            </a:r>
          </a:p>
          <a:p xmlns:a="http://schemas.openxmlformats.org/drawingml/2006/main">
            <a:r>
              <a:rPr lang="en-US" sz="1300">
                <a:solidFill>
                  <a:srgbClr val="1E2761"/>
                </a:solidFill>
                <a:latin typeface="Courier New"/>
                <a:ea typeface="Courier New"/>
              </a:rPr>
              <a:t>          │                    │</a:t>
            </a:r>
          </a:p>
          <a:p xmlns:a="http://schemas.openxmlformats.org/drawingml/2006/main">
            <a:r>
              <a:rPr lang="en-US" sz="1300">
                <a:solidFill>
                  <a:srgbClr val="1E2761"/>
                </a:solidFill>
                <a:latin typeface="Courier New"/>
                <a:ea typeface="Courier New"/>
              </a:rPr>
              <a:t>          └─────────┬──────────┘</a:t>
            </a:r>
          </a:p>
          <a:p xmlns:a="http://schemas.openxmlformats.org/drawingml/2006/main">
            <a:r>
              <a:rPr lang="en-US" sz="1300">
                <a:solidFill>
                  <a:srgbClr val="1E2761"/>
                </a:solidFill>
                <a:latin typeface="Courier New"/>
                <a:ea typeface="Courier New"/>
              </a:rPr>
              <a:t>                    ▼</a:t>
            </a:r>
          </a:p>
          <a:p xmlns:a="http://schemas.openxmlformats.org/drawingml/2006/main">
            <a:r>
              <a:rPr lang="en-US" sz="1300">
                <a:solidFill>
                  <a:srgbClr val="1E2761"/>
                </a:solidFill>
                <a:latin typeface="Courier New"/>
                <a:ea typeface="Courier New"/>
              </a:rPr>
              <a:t>         Results + Downloads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37" name="TitleBar"/>
          <p:cNvSpPr txBox="1"/>
          <p:nvPr/>
        </p:nvSpPr>
        <p:spPr>
          <a:xfrm xmlns:a="http://schemas.openxmlformats.org/drawingml/2006/main">
            <a:off x="0" y="0"/>
            <a:ext cx="121932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D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IBM Bob Integration</a:t>
            </a:r>
          </a:p>
        </p:txBody>
      </p:sp>
      <p:sp>
        <p:nvSpPr>
          <p:cNvPr id="100038" name="How"/>
          <p:cNvSpPr txBox="1"/>
          <p:nvPr/>
        </p:nvSpPr>
        <p:spPr>
          <a:xfrm xmlns:a="http://schemas.openxmlformats.org/drawingml/2006/main">
            <a:off x="540000" y="1152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E4D8C"/>
                </a:solidFill>
              </a:rPr>
              <a:t>How We Integrated IBM Bob</a:t>
            </a:r>
          </a:p>
        </p:txBody>
      </p:sp>
      <p:sp>
        <p:nvSpPr>
          <p:cNvPr id="100039" name="Details"/>
          <p:cNvSpPr txBox="1"/>
          <p:nvPr/>
        </p:nvSpPr>
        <p:spPr>
          <a:xfrm xmlns:a="http://schemas.openxmlformats.org/drawingml/2006/main">
            <a:off x="540000" y="1620000"/>
            <a:ext cx="10800000" cy="25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333333"/>
                </a:solidFill>
              </a:rPr>
              <a:t>• bob_adapter.py — clean integration module, no SDK dependency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</a:rPr>
              <a:t>• Reads BOB_API_URL, BOB_API_KEY, BOB_MODEL from environment (.env)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</a:rPr>
              <a:t>• Standard REST POST with Bearer token authentication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</a:rPr>
              <a:t>• Supports watsonx response format AND OpenAI-compatible format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</a:rPr>
              <a:t>• explain_signal() — plain-language PRR signal explanation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</a:rPr>
              <a:t>• summarize_gaps() — concise submission gap summary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</a:rPr>
              <a:t>• Graceful fallback: structured message when credentials not set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</a:rPr>
              <a:t>• Zero crashes: all API errors caught and handled silently</a:t>
            </a:r>
          </a:p>
        </p:txBody>
      </p:sp>
      <p:sp>
        <p:nvSpPr>
          <p:cNvPr id="100040" name="Principle"/>
          <p:cNvSpPr txBox="1"/>
          <p:nvPr/>
        </p:nvSpPr>
        <p:spPr>
          <a:xfrm xmlns:a="http://schemas.openxmlformats.org/drawingml/2006/main">
            <a:off x="540000" y="4392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E4D8C"/>
                </a:solidFill>
              </a:rPr>
              <a:t>Design Principle: IBM Bob adds AI explainability ON TOP of quantitative results — it does not replace expert judgment.</a:t>
            </a:r>
          </a:p>
        </p:txBody>
      </p:sp>
      <p:sp>
        <p:nvSpPr>
          <p:cNvPr id="100041" name="Note"/>
          <p:cNvSpPr txBox="1"/>
          <p:nvPr/>
        </p:nvSpPr>
        <p:spPr>
          <a:xfrm xmlns:a="http://schemas.openxmlformats.org/drawingml/2006/main">
            <a:off x="540000" y="5220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D04000"/>
                </a:solidFill>
              </a:rPr>
              <a:t>No fake API keys, no hardcoded secrets, no invented SDK methods. Credentials stay outside the codebase.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42" name="TitleBar"/>
          <p:cNvSpPr txBox="1"/>
          <p:nvPr/>
        </p:nvSpPr>
        <p:spPr>
          <a:xfrm xmlns:a="http://schemas.openxmlformats.org/drawingml/2006/main">
            <a:off x="0" y="0"/>
            <a:ext cx="121932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D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Demo &amp; Impact</a:t>
            </a:r>
          </a:p>
        </p:txBody>
      </p:sp>
      <p:sp>
        <p:nvSpPr>
          <p:cNvPr id="100043" name="DemoFlow"/>
          <p:cNvSpPr txBox="1"/>
          <p:nvPr/>
        </p:nvSpPr>
        <p:spPr>
          <a:xfrm xmlns:a="http://schemas.openxmlformats.org/drawingml/2006/main">
            <a:off x="540000" y="1152000"/>
            <a:ext cx="10800000" cy="32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333333"/>
                </a:solidFill>
              </a:rPr>
              <a:t>Live Demo Walkthrough (3–5 min)</a:t>
            </a:r>
          </a:p>
          <a:p xmlns:a="http://schemas.openxmlformats.org/drawingml/2006/main">
            <a:r>
              <a:rPr lang="en-US" sz="1500">
                <a:solidFill>
                  <a:srgbClr val="333333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333333"/>
                </a:solidFill>
              </a:rPr>
              <a:t>1. Home — feature overview and disclaimer</a:t>
            </a:r>
          </a:p>
          <a:p xmlns:a="http://schemas.openxmlformats.org/drawingml/2006/main">
            <a:r>
              <a:rPr lang="en-US" sz="1500">
                <a:solidFill>
                  <a:srgbClr val="333333"/>
                </a:solidFill>
              </a:rPr>
              <a:t>2. Safety Signal Detection → Load sample CSV → Calculate PRR</a:t>
            </a:r>
          </a:p>
          <a:p xmlns:a="http://schemas.openxmlformats.org/drawingml/2006/main">
            <a:r>
              <a:rPr lang="en-US" sz="1500">
                <a:solidFill>
                  <a:srgbClr val="333333"/>
                </a:solidFill>
              </a:rPr>
              <a:t>3. View ranked signals table → Expand top signal → See 2×2 table + PRR formula</a:t>
            </a:r>
          </a:p>
          <a:p xmlns:a="http://schemas.openxmlformats.org/drawingml/2006/main">
            <a:r>
              <a:rPr lang="en-US" sz="1500">
                <a:solidFill>
                  <a:srgbClr val="333333"/>
                </a:solidFill>
              </a:rPr>
              <a:t>4. IBM Bob explains signal in plain language</a:t>
            </a:r>
          </a:p>
          <a:p xmlns:a="http://schemas.openxmlformats.org/drawingml/2006/main">
            <a:r>
              <a:rPr lang="en-US" sz="1500">
                <a:solidFill>
                  <a:srgbClr val="333333"/>
                </a:solidFill>
              </a:rPr>
              <a:t>5. Submission Readiness → Load sample dossier → Check readiness</a:t>
            </a:r>
          </a:p>
          <a:p xmlns:a="http://schemas.openxmlformats.org/drawingml/2006/main">
            <a:r>
              <a:rPr lang="en-US" sz="1500">
                <a:solidFill>
                  <a:srgbClr val="333333"/>
                </a:solidFill>
              </a:rPr>
              <a:t>6. View module scores + bar chart → Requirements table (green/red)</a:t>
            </a:r>
          </a:p>
          <a:p xmlns:a="http://schemas.openxmlformats.org/drawingml/2006/main">
            <a:r>
              <a:rPr lang="en-US" sz="1500">
                <a:solidFill>
                  <a:srgbClr val="333333"/>
                </a:solidFill>
              </a:rPr>
              <a:t>7. IBM Bob generates gap summary → Download gap report</a:t>
            </a:r>
          </a:p>
        </p:txBody>
      </p:sp>
      <p:sp>
        <p:nvSpPr>
          <p:cNvPr id="100044" name="Impact"/>
          <p:cNvSpPr txBox="1"/>
          <p:nvPr/>
        </p:nvSpPr>
        <p:spPr>
          <a:xfrm xmlns:a="http://schemas.openxmlformats.org/drawingml/2006/main">
            <a:off x="540000" y="468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1E4D8C"/>
                </a:solidFill>
              </a:rPr>
              <a:t>Impact: Faster, more consistent signal screening · Structured submission gap detection · AI-readable explanations for expert review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E4D8C"/>
        </a:solidFill>
      </p:bgPr>
    </p:bg>
    <p:spTree>
      <p:nvGrpSpPr>
        <p:cNvPr id="1" name=""/>
        <p:cNvGrpSpPr/>
        <p:nvPr/>
      </p:nvGrpSpPr>
      <p:grpSpPr/>
      <p:sp>
        <p:nvSpPr>
          <p:cNvPr id="100045" name="TitleBar"/>
          <p:cNvSpPr txBox="1"/>
          <p:nvPr/>
        </p:nvSpPr>
        <p:spPr>
          <a:xfrm xmlns:a="http://schemas.openxmlformats.org/drawingml/2006/main">
            <a:off x="540000" y="54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Future Scope &amp; Conclusion</a:t>
            </a:r>
          </a:p>
        </p:txBody>
      </p:sp>
      <p:sp>
        <p:nvSpPr>
          <p:cNvPr id="100046" name="Future"/>
          <p:cNvSpPr txBox="1"/>
          <p:nvPr/>
        </p:nvSpPr>
        <p:spPr>
          <a:xfrm xmlns:a="http://schemas.openxmlformats.org/drawingml/2006/main">
            <a:off x="540000" y="1440000"/>
            <a:ext cx="5220000" cy="3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A8C8F0"/>
                </a:solidFill>
              </a:rPr>
              <a:t>🔮  Future Improvements</a:t>
            </a:r>
          </a:p>
          <a:p xmlns:a="http://schemas.openxmlformats.org/drawingml/2006/main">
            <a:r>
              <a:rPr lang="en-US" sz="1500">
                <a:solidFill>
                  <a:srgbClr val="A8C8F0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A8C8F0"/>
                </a:solidFill>
              </a:rPr>
              <a:t>• Chi-squared test and 95% CI alongside PRR</a:t>
            </a:r>
          </a:p>
          <a:p xmlns:a="http://schemas.openxmlformats.org/drawingml/2006/main">
            <a:r>
              <a:rPr lang="en-US" sz="1500">
                <a:solidFill>
                  <a:srgbClr val="A8C8F0"/>
                </a:solidFill>
              </a:rPr>
              <a:t>• NLP-based semantic dossier analysis (beyond keywords)</a:t>
            </a:r>
          </a:p>
          <a:p xmlns:a="http://schemas.openxmlformats.org/drawingml/2006/main">
            <a:r>
              <a:rPr lang="en-US" sz="1500">
                <a:solidFill>
                  <a:srgbClr val="A8C8F0"/>
                </a:solidFill>
              </a:rPr>
              <a:t>• Real-time FAERS / VigiBase API integration</a:t>
            </a:r>
          </a:p>
          <a:p xmlns:a="http://schemas.openxmlformats.org/drawingml/2006/main">
            <a:r>
              <a:rPr lang="en-US" sz="1500">
                <a:solidFill>
                  <a:srgbClr val="A8C8F0"/>
                </a:solidFill>
              </a:rPr>
              <a:t>• Audit trail for regulatory compliance</a:t>
            </a:r>
          </a:p>
          <a:p xmlns:a="http://schemas.openxmlformats.org/drawingml/2006/main">
            <a:r>
              <a:rPr lang="en-US" sz="1500">
                <a:solidFill>
                  <a:srgbClr val="A8C8F0"/>
                </a:solidFill>
              </a:rPr>
              <a:t>• PDF gap report export</a:t>
            </a:r>
          </a:p>
          <a:p xmlns:a="http://schemas.openxmlformats.org/drawingml/2006/main">
            <a:r>
              <a:rPr lang="en-US" sz="1500">
                <a:solidFill>
                  <a:srgbClr val="A8C8F0"/>
                </a:solidFill>
              </a:rPr>
              <a:t>• Multi-user dashboard with authentication</a:t>
            </a:r>
          </a:p>
          <a:p xmlns:a="http://schemas.openxmlformats.org/drawingml/2006/main">
            <a:r>
              <a:rPr lang="en-US" sz="1500">
                <a:solidFill>
                  <a:srgbClr val="A8C8F0"/>
                </a:solidFill>
              </a:rPr>
              <a:t>• Configurable checklists via UI (no code changes)</a:t>
            </a:r>
          </a:p>
          <a:p xmlns:a="http://schemas.openxmlformats.org/drawingml/2006/main">
            <a:r>
              <a:rPr lang="en-US" sz="1500">
                <a:solidFill>
                  <a:srgbClr val="A8C8F0"/>
                </a:solidFill>
              </a:rPr>
              <a:t>• Database backend for longitudinal signal tracking</a:t>
            </a:r>
          </a:p>
        </p:txBody>
      </p:sp>
      <p:sp>
        <p:nvSpPr>
          <p:cNvPr id="100047" name="Conclusion"/>
          <p:cNvSpPr txBox="1"/>
          <p:nvPr/>
        </p:nvSpPr>
        <p:spPr>
          <a:xfrm xmlns:a="http://schemas.openxmlformats.org/drawingml/2006/main">
            <a:off x="6300000" y="1440000"/>
            <a:ext cx="5040000" cy="3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>✅  Conclusion</a:t>
            </a:r>
          </a:p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>PharmaGuard AI demonstrates that quantitative drug safety screening and structured regulatory readiness checking can be combined in one transparent, explainable, AI-assisted prototype.</a:t>
            </a:r>
          </a:p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>Built with Python · Streamlit · Pandas · IBM Bob</a:t>
            </a:r>
          </a:p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>All core features work without external services.</a:t>
            </a:r>
          </a:p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>IBM Bob adds explainability on top.</a:t>
            </a:r>
          </a:p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FFFFFF"/>
                </a:solidFill>
              </a:rPr>
              <a:t>"AI-assisted screening prototype — not a replacement for expert judgment."</a:t>
            </a:r>
          </a:p>
        </p:txBody>
      </p:sp>
      <p:sp>
        <p:nvSpPr>
          <p:cNvPr id="100048" name="BottomTag"/>
          <p:cNvSpPr txBox="1"/>
          <p:nvPr/>
        </p:nvSpPr>
        <p:spPr>
          <a:xfrm xmlns:a="http://schemas.openxmlformats.org/drawingml/2006/main">
            <a:off x="540000" y="6300000"/>
            <a:ext cx="108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6A9BC3"/>
                </a:solidFill>
              </a:rPr>
              <a:t>IBM BoB AI Innovation Hackathon 2026 · Problem P2 · PharmaGuard AI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2026-09-14T04:21:12Z</dcterms:created>
  <cp:lastModifiedBy>OfficeCLI</cp:lastModifiedBy>
  <dcterms:modified xsi:type="dcterms:W3CDTF">2026-09-14T04:21:12Z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1.0.144</vt:lpwstr>
  </op:property>
  <op:property fmtid="{D5CDD505-2E9C-101B-9397-08002B2CF9AE}" pid="3" name="OfficeCLI.LastModified">
    <vt:lpwstr xmlns:vt="http://schemas.openxmlformats.org/officeDocument/2006/docPropsVTypes">2026-09-14T04:21:13Z</vt:lpwstr>
  </op:property>
</op:Properties>
</file>